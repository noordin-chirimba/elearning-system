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93" r:id="rId3"/>
    <p:sldId id="294" r:id="rId4"/>
    <p:sldId id="296" r:id="rId5"/>
    <p:sldId id="297"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7" autoAdjust="0"/>
    <p:restoredTop sz="94660"/>
  </p:normalViewPr>
  <p:slideViewPr>
    <p:cSldViewPr snapToGrid="0">
      <p:cViewPr varScale="1">
        <p:scale>
          <a:sx n="108" d="100"/>
          <a:sy n="108" d="100"/>
        </p:scale>
        <p:origin x="57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spc="3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457200" cy="6858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p>
            <a:fld id="{55CD15F7-7D57-4490-9DFC-CE8F6E50AFA7}" type="datetimeFigureOut">
              <a:rPr lang="en-GB" smtClean="0"/>
              <a:t>14/08/2024</a:t>
            </a:fld>
            <a:endParaRPr lang="en-GB"/>
          </a:p>
        </p:txBody>
      </p:sp>
      <p:sp>
        <p:nvSpPr>
          <p:cNvPr id="9" name="Footer Placeholder 8"/>
          <p:cNvSpPr>
            <a:spLocks noGrp="1"/>
          </p:cNvSpPr>
          <p:nvPr>
            <p:ph type="ftr" sz="quarter" idx="11"/>
          </p:nvPr>
        </p:nvSpPr>
        <p:spPr/>
        <p:txBody>
          <a:bodyPr/>
          <a:lstStyle/>
          <a:p>
            <a:endParaRPr lang="en-GB"/>
          </a:p>
        </p:txBody>
      </p:sp>
      <p:sp>
        <p:nvSpPr>
          <p:cNvPr id="10" name="Slide Number Placeholder 9"/>
          <p:cNvSpPr>
            <a:spLocks noGrp="1"/>
          </p:cNvSpPr>
          <p:nvPr>
            <p:ph type="sldNum" sz="quarter" idx="12"/>
          </p:nvPr>
        </p:nvSpPr>
        <p:spPr/>
        <p:txBody>
          <a:bodyPr/>
          <a:lstStyle/>
          <a:p>
            <a:fld id="{C3217068-47E5-46E3-9F9C-60394A327F91}" type="slidenum">
              <a:rPr lang="en-GB" smtClean="0"/>
              <a:t>‹#›</a:t>
            </a:fld>
            <a:endParaRPr lang="en-GB"/>
          </a:p>
        </p:txBody>
      </p:sp>
    </p:spTree>
    <p:extLst>
      <p:ext uri="{BB962C8B-B14F-4D97-AF65-F5344CB8AC3E}">
        <p14:creationId xmlns:p14="http://schemas.microsoft.com/office/powerpoint/2010/main" val="155252937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D15F7-7D57-4490-9DFC-CE8F6E50AFA7}" type="datetimeFigureOut">
              <a:rPr lang="en-GB" smtClean="0"/>
              <a:t>14/08/2024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3217068-47E5-46E3-9F9C-60394A327F91}" type="slidenum">
              <a:rPr lang="en-GB" smtClean="0"/>
              <a:t>‹#›</a:t>
            </a:fld>
            <a:endParaRPr lang="en-GB"/>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36297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1"/>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spc="30" baseline="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CD15F7-7D57-4490-9DFC-CE8F6E50AFA7}" type="datetimeFigureOut">
              <a:rPr lang="en-GB" smtClean="0"/>
              <a:t>14/08/2024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3217068-47E5-46E3-9F9C-60394A327F91}" type="slidenum">
              <a:rPr lang="en-GB" smtClean="0"/>
              <a:t>‹#›</a:t>
            </a:fld>
            <a:endParaRPr lang="en-GB"/>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8080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CD15F7-7D57-4490-9DFC-CE8F6E50AFA7}" type="datetimeFigureOut">
              <a:rPr lang="en-GB" smtClean="0"/>
              <a:t>14/08/2024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3217068-47E5-46E3-9F9C-60394A327F91}" type="slidenum">
              <a:rPr lang="en-GB" smtClean="0"/>
              <a:t>‹#›</a:t>
            </a:fld>
            <a:endParaRPr lang="en-GB"/>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14628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CD15F7-7D57-4490-9DFC-CE8F6E50AFA7}" type="datetimeFigureOut">
              <a:rPr lang="en-GB" smtClean="0"/>
              <a:t>14/08/2024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3217068-47E5-46E3-9F9C-60394A327F91}" type="slidenum">
              <a:rPr lang="en-GB" smtClean="0"/>
              <a:t>‹#›</a:t>
            </a:fld>
            <a:endParaRPr lang="en-GB"/>
          </a:p>
        </p:txBody>
      </p:sp>
      <p:sp>
        <p:nvSpPr>
          <p:cNvPr id="11" name="Rectangle 10"/>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62104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CD15F7-7D57-4490-9DFC-CE8F6E50AFA7}" type="datetimeFigureOut">
              <a:rPr lang="en-GB" smtClean="0"/>
              <a:t>14/08/2024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3217068-47E5-46E3-9F9C-60394A327F91}" type="slidenum">
              <a:rPr lang="en-GB" smtClean="0"/>
              <a:t>‹#›</a:t>
            </a:fld>
            <a:endParaRPr lang="en-GB"/>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43305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CD15F7-7D57-4490-9DFC-CE8F6E50AFA7}" type="datetimeFigureOut">
              <a:rPr lang="en-GB" smtClean="0"/>
              <a:t>14/08/2024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3217068-47E5-46E3-9F9C-60394A327F91}" type="slidenum">
              <a:rPr lang="en-GB" smtClean="0"/>
              <a:t>‹#›</a:t>
            </a:fld>
            <a:endParaRPr lang="en-GB"/>
          </a:p>
        </p:txBody>
      </p:sp>
      <p:sp>
        <p:nvSpPr>
          <p:cNvPr id="5" name="Rectangle 4"/>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63063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2800" b="1"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CD15F7-7D57-4490-9DFC-CE8F6E50AFA7}" type="datetimeFigureOut">
              <a:rPr lang="en-GB" smtClean="0"/>
              <a:t>14/08/2024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3217068-47E5-46E3-9F9C-60394A327F91}" type="slidenum">
              <a:rPr lang="en-GB" smtClean="0"/>
              <a:t>‹#›</a:t>
            </a:fld>
            <a:endParaRPr lang="en-GB"/>
          </a:p>
        </p:txBody>
      </p:sp>
    </p:spTree>
    <p:extLst>
      <p:ext uri="{BB962C8B-B14F-4D97-AF65-F5344CB8AC3E}">
        <p14:creationId xmlns:p14="http://schemas.microsoft.com/office/powerpoint/2010/main" val="3219560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1">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400" baseline="0">
                <a:solidFill>
                  <a:schemeClr val="bg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CD15F7-7D57-4490-9DFC-CE8F6E50AFA7}" type="datetimeFigureOut">
              <a:rPr lang="en-GB" smtClean="0"/>
              <a:t>14/08/2024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3217068-47E5-46E3-9F9C-60394A327F91}" type="slidenum">
              <a:rPr lang="en-GB" smtClean="0"/>
              <a:t>‹#›</a:t>
            </a:fld>
            <a:endParaRPr lang="en-GB"/>
          </a:p>
        </p:txBody>
      </p:sp>
    </p:spTree>
    <p:extLst>
      <p:ext uri="{BB962C8B-B14F-4D97-AF65-F5344CB8AC3E}">
        <p14:creationId xmlns:p14="http://schemas.microsoft.com/office/powerpoint/2010/main" val="2502431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D15F7-7D57-4490-9DFC-CE8F6E50AFA7}" type="datetimeFigureOut">
              <a:rPr lang="en-GB" smtClean="0"/>
              <a:t>14/08/2024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3217068-47E5-46E3-9F9C-60394A327F91}" type="slidenum">
              <a:rPr lang="en-GB" smtClean="0"/>
              <a:t>‹#›</a:t>
            </a:fld>
            <a:endParaRPr lang="en-GB"/>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68628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D15F7-7D57-4490-9DFC-CE8F6E50AFA7}" type="datetimeFigureOut">
              <a:rPr lang="en-GB" smtClean="0"/>
              <a:t>14/08/2024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3217068-47E5-46E3-9F9C-60394A327F91}" type="slidenum">
              <a:rPr lang="en-GB" smtClean="0"/>
              <a:t>‹#›</a:t>
            </a:fld>
            <a:endParaRPr lang="en-GB"/>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67043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294198"/>
            <a:ext cx="9692640" cy="1397124"/>
          </a:xfrm>
          <a:prstGeom prst="rect">
            <a:avLst/>
          </a:prstGeom>
        </p:spPr>
        <p:txBody>
          <a:bodyPr vert="horz" lIns="91440" tIns="27432"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accent1">
                    <a:lumMod val="40000"/>
                    <a:lumOff val="60000"/>
                  </a:schemeClr>
                </a:solidFill>
              </a:defRPr>
            </a:lvl1pPr>
          </a:lstStyle>
          <a:p>
            <a:fld id="{55CD15F7-7D57-4490-9DFC-CE8F6E50AFA7}" type="datetimeFigureOut">
              <a:rPr lang="en-GB" smtClean="0"/>
              <a:t>14/08/2024</a:t>
            </a:fld>
            <a:endParaRPr lang="en-GB"/>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accent1">
                    <a:lumMod val="40000"/>
                    <a:lumOff val="60000"/>
                  </a:schemeClr>
                </a:solidFill>
              </a:defRPr>
            </a:lvl1pPr>
          </a:lstStyle>
          <a:p>
            <a:endParaRPr lang="en-GB"/>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accent1">
                    <a:lumMod val="60000"/>
                    <a:lumOff val="40000"/>
                  </a:schemeClr>
                </a:solidFill>
                <a:latin typeface="+mj-lt"/>
              </a:defRPr>
            </a:lvl1pPr>
          </a:lstStyle>
          <a:p>
            <a:fld id="{C3217068-47E5-46E3-9F9C-60394A327F91}" type="slidenum">
              <a:rPr lang="en-GB" smtClean="0"/>
              <a:t>‹#›</a:t>
            </a:fld>
            <a:endParaRPr lang="en-GB"/>
          </a:p>
        </p:txBody>
      </p:sp>
    </p:spTree>
    <p:extLst>
      <p:ext uri="{BB962C8B-B14F-4D97-AF65-F5344CB8AC3E}">
        <p14:creationId xmlns:p14="http://schemas.microsoft.com/office/powerpoint/2010/main" val="41489441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b="1" kern="1200" spc="-50" baseline="0">
          <a:solidFill>
            <a:schemeClr val="accent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interaction-design.org/literature/article/user-research-the-importance-of-hypotheses" TargetMode="External"/><Relationship Id="rId2" Type="http://schemas.openxmlformats.org/officeDocument/2006/relationships/hyperlink" Target="https://methods.18f.gov/decide/design-hypothesis/" TargetMode="External"/><Relationship Id="rId1" Type="http://schemas.openxmlformats.org/officeDocument/2006/relationships/slideLayout" Target="../slideLayouts/slideLayout2.xml"/><Relationship Id="rId4" Type="http://schemas.openxmlformats.org/officeDocument/2006/relationships/hyperlink" Target="https://medium.com/is-that-product-management/what-is-design-hypothesis-5a4a97dac6c5"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D8821-033A-4AA9-BF3A-D67280C0A2B6}"/>
              </a:ext>
            </a:extLst>
          </p:cNvPr>
          <p:cNvSpPr>
            <a:spLocks noGrp="1"/>
          </p:cNvSpPr>
          <p:nvPr>
            <p:ph type="ctrTitle"/>
          </p:nvPr>
        </p:nvSpPr>
        <p:spPr>
          <a:xfrm>
            <a:off x="3045368" y="2043663"/>
            <a:ext cx="6105194" cy="2031055"/>
          </a:xfrm>
        </p:spPr>
        <p:txBody>
          <a:bodyPr>
            <a:normAutofit/>
          </a:bodyPr>
          <a:lstStyle/>
          <a:p>
            <a:r>
              <a:rPr lang="en-AU" sz="5200" dirty="0">
                <a:solidFill>
                  <a:schemeClr val="tx2"/>
                </a:solidFill>
              </a:rPr>
              <a:t>Lab activity Week 3</a:t>
            </a:r>
            <a:endParaRPr lang="en-GB" sz="5200" dirty="0">
              <a:solidFill>
                <a:schemeClr val="tx2"/>
              </a:solidFill>
            </a:endParaRPr>
          </a:p>
        </p:txBody>
      </p:sp>
      <p:sp>
        <p:nvSpPr>
          <p:cNvPr id="3" name="Subtitle 2">
            <a:extLst>
              <a:ext uri="{FF2B5EF4-FFF2-40B4-BE49-F238E27FC236}">
                <a16:creationId xmlns:a16="http://schemas.microsoft.com/office/drawing/2014/main" id="{B7B99EE8-B465-441A-8317-AB45CF87C596}"/>
              </a:ext>
            </a:extLst>
          </p:cNvPr>
          <p:cNvSpPr>
            <a:spLocks noGrp="1"/>
          </p:cNvSpPr>
          <p:nvPr>
            <p:ph type="subTitle" idx="1"/>
          </p:nvPr>
        </p:nvSpPr>
        <p:spPr>
          <a:xfrm>
            <a:off x="3045368" y="4160126"/>
            <a:ext cx="6105194" cy="682079"/>
          </a:xfrm>
        </p:spPr>
        <p:txBody>
          <a:bodyPr>
            <a:normAutofit/>
          </a:bodyPr>
          <a:lstStyle/>
          <a:p>
            <a:r>
              <a:rPr lang="en-AU" dirty="0">
                <a:solidFill>
                  <a:schemeClr val="tx2"/>
                </a:solidFill>
              </a:rPr>
              <a:t>Human Computer Interaction and Design</a:t>
            </a:r>
            <a:endParaRPr lang="en-GB" dirty="0">
              <a:solidFill>
                <a:schemeClr val="tx2"/>
              </a:solidFill>
            </a:endParaRPr>
          </a:p>
        </p:txBody>
      </p:sp>
    </p:spTree>
    <p:extLst>
      <p:ext uri="{BB962C8B-B14F-4D97-AF65-F5344CB8AC3E}">
        <p14:creationId xmlns:p14="http://schemas.microsoft.com/office/powerpoint/2010/main" val="1114767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48D41-2681-480E-92DA-095F9D4ECF43}"/>
              </a:ext>
            </a:extLst>
          </p:cNvPr>
          <p:cNvSpPr>
            <a:spLocks noGrp="1"/>
          </p:cNvSpPr>
          <p:nvPr>
            <p:ph type="title"/>
          </p:nvPr>
        </p:nvSpPr>
        <p:spPr/>
        <p:txBody>
          <a:bodyPr/>
          <a:lstStyle/>
          <a:p>
            <a:r>
              <a:rPr lang="en-GB" dirty="0"/>
              <a:t>Participatory Design </a:t>
            </a:r>
          </a:p>
        </p:txBody>
      </p:sp>
      <p:sp>
        <p:nvSpPr>
          <p:cNvPr id="3" name="Content Placeholder 2">
            <a:extLst>
              <a:ext uri="{FF2B5EF4-FFF2-40B4-BE49-F238E27FC236}">
                <a16:creationId xmlns:a16="http://schemas.microsoft.com/office/drawing/2014/main" id="{9F4DD2B2-8212-437E-9C8F-59635B153A2F}"/>
              </a:ext>
            </a:extLst>
          </p:cNvPr>
          <p:cNvSpPr>
            <a:spLocks noGrp="1"/>
          </p:cNvSpPr>
          <p:nvPr>
            <p:ph idx="1"/>
          </p:nvPr>
        </p:nvSpPr>
        <p:spPr>
          <a:xfrm>
            <a:off x="1261872" y="1828800"/>
            <a:ext cx="8595360" cy="4907560"/>
          </a:xfrm>
        </p:spPr>
        <p:txBody>
          <a:bodyPr>
            <a:normAutofit/>
          </a:bodyPr>
          <a:lstStyle/>
          <a:p>
            <a:pPr algn="l"/>
            <a:r>
              <a:rPr lang="en-GB" b="0" i="0" dirty="0">
                <a:solidFill>
                  <a:srgbClr val="2E2E2E"/>
                </a:solidFill>
                <a:effectLst/>
                <a:latin typeface="Lato" panose="020F0502020204030203" pitchFamily="34" charset="0"/>
              </a:rPr>
              <a:t>You have been asked to organise a Participatory Design workshop for your coursework product.  In the framing stage you are trying to answer the following questions:</a:t>
            </a:r>
          </a:p>
          <a:p>
            <a:pPr algn="l"/>
            <a:r>
              <a:rPr lang="en-GB" b="0" i="0" dirty="0">
                <a:solidFill>
                  <a:srgbClr val="2E2E2E"/>
                </a:solidFill>
                <a:effectLst/>
                <a:latin typeface="Lato" panose="020F0502020204030203" pitchFamily="34" charset="0"/>
              </a:rPr>
              <a:t>Who are the target user groups for your coursework product that you need to include in your participatory Design workshops?</a:t>
            </a:r>
          </a:p>
          <a:p>
            <a:pPr algn="l"/>
            <a:r>
              <a:rPr lang="en-GB" b="0" i="0" dirty="0">
                <a:solidFill>
                  <a:srgbClr val="2E2E2E"/>
                </a:solidFill>
                <a:effectLst/>
                <a:latin typeface="Lato" panose="020F0502020204030203" pitchFamily="34" charset="0"/>
              </a:rPr>
              <a:t>Develop one or more  design hypothesis that you could explore through participatory design research. What are your design hypotheses for your coursework product? </a:t>
            </a:r>
          </a:p>
          <a:p>
            <a:pPr algn="l"/>
            <a:r>
              <a:rPr lang="en-GB" dirty="0">
                <a:solidFill>
                  <a:srgbClr val="2E2E2E"/>
                </a:solidFill>
                <a:latin typeface="Lato" panose="020F0502020204030203" pitchFamily="34" charset="0"/>
              </a:rPr>
              <a:t>What material would you bring to the participatory design workshop? </a:t>
            </a:r>
            <a:r>
              <a:rPr lang="en-GB" b="0" i="0" dirty="0">
                <a:solidFill>
                  <a:srgbClr val="2E2E2E"/>
                </a:solidFill>
                <a:effectLst/>
                <a:latin typeface="Lato" panose="020F0502020204030203" pitchFamily="34" charset="0"/>
              </a:rPr>
              <a:t> </a:t>
            </a:r>
          </a:p>
          <a:p>
            <a:pPr algn="l"/>
            <a:r>
              <a:rPr lang="en-GB" b="0" i="0" dirty="0">
                <a:solidFill>
                  <a:srgbClr val="2E2E2E"/>
                </a:solidFill>
                <a:effectLst/>
                <a:latin typeface="Lato" panose="020F0502020204030203" pitchFamily="34" charset="0"/>
              </a:rPr>
              <a:t> You can find additional readings on the development of a design hypothesis </a:t>
            </a:r>
            <a:r>
              <a:rPr lang="en-GB" b="0" i="0" u="none" strike="noStrike" dirty="0">
                <a:solidFill>
                  <a:srgbClr val="4E62C4"/>
                </a:solidFill>
                <a:effectLst/>
                <a:latin typeface="Lato" panose="020F0502020204030203" pitchFamily="34" charset="0"/>
                <a:hlinkClick r:id="rId2"/>
              </a:rPr>
              <a:t>here </a:t>
            </a:r>
            <a:r>
              <a:rPr lang="en-GB" b="0" i="0" dirty="0">
                <a:solidFill>
                  <a:srgbClr val="2E2E2E"/>
                </a:solidFill>
                <a:effectLst/>
                <a:latin typeface="Lato" panose="020F0502020204030203" pitchFamily="34" charset="0"/>
              </a:rPr>
              <a:t>, </a:t>
            </a:r>
            <a:r>
              <a:rPr lang="en-GB" b="0" i="0" u="none" strike="noStrike" dirty="0">
                <a:solidFill>
                  <a:srgbClr val="4E62C4"/>
                </a:solidFill>
                <a:effectLst/>
                <a:latin typeface="Lato" panose="020F0502020204030203" pitchFamily="34" charset="0"/>
                <a:hlinkClick r:id="rId3"/>
              </a:rPr>
              <a:t>here</a:t>
            </a:r>
            <a:r>
              <a:rPr lang="en-GB" b="0" i="0" dirty="0">
                <a:solidFill>
                  <a:srgbClr val="2E2E2E"/>
                </a:solidFill>
                <a:effectLst/>
                <a:latin typeface="Lato" panose="020F0502020204030203" pitchFamily="34" charset="0"/>
              </a:rPr>
              <a:t> and </a:t>
            </a:r>
            <a:r>
              <a:rPr lang="en-GB" b="0" i="0" u="none" strike="noStrike" dirty="0">
                <a:solidFill>
                  <a:srgbClr val="4E62C4"/>
                </a:solidFill>
                <a:effectLst/>
                <a:latin typeface="Lato" panose="020F0502020204030203" pitchFamily="34" charset="0"/>
                <a:hlinkClick r:id="rId4"/>
              </a:rPr>
              <a:t>here</a:t>
            </a:r>
            <a:r>
              <a:rPr lang="en-GB" b="0" i="0" dirty="0">
                <a:solidFill>
                  <a:srgbClr val="2E2E2E"/>
                </a:solidFill>
                <a:effectLst/>
                <a:latin typeface="Lato" panose="020F0502020204030203" pitchFamily="34" charset="0"/>
              </a:rPr>
              <a:t>.</a:t>
            </a:r>
          </a:p>
          <a:p>
            <a:pPr algn="l"/>
            <a:r>
              <a:rPr lang="en-GB" b="1" i="0" dirty="0">
                <a:solidFill>
                  <a:srgbClr val="2E2E2E"/>
                </a:solidFill>
                <a:effectLst/>
                <a:latin typeface="Lato" panose="020F0502020204030203" pitchFamily="34" charset="0"/>
              </a:rPr>
              <a:t>Document all of your answers, e.g. on an additional slide. Signal if you would like your tutor to have a look/listen to what you created. </a:t>
            </a:r>
            <a:endParaRPr lang="en-GB" b="0" i="0" dirty="0">
              <a:solidFill>
                <a:srgbClr val="2E2E2E"/>
              </a:solidFill>
              <a:effectLst/>
              <a:latin typeface="Lato" panose="020F0502020204030203" pitchFamily="34" charset="0"/>
            </a:endParaRPr>
          </a:p>
        </p:txBody>
      </p:sp>
    </p:spTree>
    <p:extLst>
      <p:ext uri="{BB962C8B-B14F-4D97-AF65-F5344CB8AC3E}">
        <p14:creationId xmlns:p14="http://schemas.microsoft.com/office/powerpoint/2010/main" val="562025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05FBF-ABEA-4F21-9B0B-9EFFA2F0147F}"/>
              </a:ext>
            </a:extLst>
          </p:cNvPr>
          <p:cNvSpPr>
            <a:spLocks noGrp="1"/>
          </p:cNvSpPr>
          <p:nvPr>
            <p:ph type="title"/>
          </p:nvPr>
        </p:nvSpPr>
        <p:spPr/>
        <p:txBody>
          <a:bodyPr/>
          <a:lstStyle/>
          <a:p>
            <a:r>
              <a:rPr lang="en-GB" dirty="0"/>
              <a:t>What is participatory design</a:t>
            </a:r>
          </a:p>
        </p:txBody>
      </p:sp>
      <p:sp>
        <p:nvSpPr>
          <p:cNvPr id="3" name="Content Placeholder 2">
            <a:extLst>
              <a:ext uri="{FF2B5EF4-FFF2-40B4-BE49-F238E27FC236}">
                <a16:creationId xmlns:a16="http://schemas.microsoft.com/office/drawing/2014/main" id="{2F1A6E4B-7F65-4C86-8117-E5508272690E}"/>
              </a:ext>
            </a:extLst>
          </p:cNvPr>
          <p:cNvSpPr>
            <a:spLocks noGrp="1"/>
          </p:cNvSpPr>
          <p:nvPr>
            <p:ph idx="1"/>
          </p:nvPr>
        </p:nvSpPr>
        <p:spPr/>
        <p:txBody>
          <a:bodyPr/>
          <a:lstStyle/>
          <a:p>
            <a:endParaRPr lang="en-GB" dirty="0"/>
          </a:p>
          <a:p>
            <a:pPr marL="0" indent="0">
              <a:buNone/>
            </a:pPr>
            <a:r>
              <a:rPr lang="en-GB" i="1" dirty="0"/>
              <a:t>People (audience, stakeholders) take part in the creative process. The designer facilitates the process e.g. through provision of materials and inputs for people to discuss their personal experiences and express their ideal solutions.</a:t>
            </a:r>
          </a:p>
          <a:p>
            <a:endParaRPr lang="en-GB" dirty="0"/>
          </a:p>
        </p:txBody>
      </p:sp>
    </p:spTree>
    <p:extLst>
      <p:ext uri="{BB962C8B-B14F-4D97-AF65-F5344CB8AC3E}">
        <p14:creationId xmlns:p14="http://schemas.microsoft.com/office/powerpoint/2010/main" val="2465600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55C84-440E-424B-A99C-60795D221A3B}"/>
              </a:ext>
            </a:extLst>
          </p:cNvPr>
          <p:cNvSpPr>
            <a:spLocks noGrp="1"/>
          </p:cNvSpPr>
          <p:nvPr>
            <p:ph type="title"/>
          </p:nvPr>
        </p:nvSpPr>
        <p:spPr/>
        <p:txBody>
          <a:bodyPr/>
          <a:lstStyle/>
          <a:p>
            <a:r>
              <a:rPr lang="en-GB" dirty="0"/>
              <a:t>Coursework report section 5</a:t>
            </a:r>
          </a:p>
        </p:txBody>
      </p:sp>
      <p:sp>
        <p:nvSpPr>
          <p:cNvPr id="3" name="Content Placeholder 2">
            <a:extLst>
              <a:ext uri="{FF2B5EF4-FFF2-40B4-BE49-F238E27FC236}">
                <a16:creationId xmlns:a16="http://schemas.microsoft.com/office/drawing/2014/main" id="{9556B507-CAED-4C44-BDA6-B251DB75AB6C}"/>
              </a:ext>
            </a:extLst>
          </p:cNvPr>
          <p:cNvSpPr>
            <a:spLocks noGrp="1"/>
          </p:cNvSpPr>
          <p:nvPr>
            <p:ph idx="1"/>
          </p:nvPr>
        </p:nvSpPr>
        <p:spPr/>
        <p:txBody>
          <a:bodyPr/>
          <a:lstStyle/>
          <a:p>
            <a:r>
              <a:rPr lang="en-GB" i="1" dirty="0"/>
              <a:t>In the coursework report you also need to set up a research study. However, the participatory design method would not be the most suitable method for this study. Can you find why it is less suitable? </a:t>
            </a:r>
          </a:p>
        </p:txBody>
      </p:sp>
    </p:spTree>
    <p:extLst>
      <p:ext uri="{BB962C8B-B14F-4D97-AF65-F5344CB8AC3E}">
        <p14:creationId xmlns:p14="http://schemas.microsoft.com/office/powerpoint/2010/main" val="2794985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5EEB13-29EA-3516-C05F-BA38842C3463}"/>
              </a:ext>
            </a:extLst>
          </p:cNvPr>
          <p:cNvSpPr>
            <a:spLocks noGrp="1"/>
          </p:cNvSpPr>
          <p:nvPr>
            <p:ph idx="1"/>
          </p:nvPr>
        </p:nvSpPr>
        <p:spPr/>
        <p:txBody>
          <a:bodyPr/>
          <a:lstStyle/>
          <a:p>
            <a:pPr algn="just"/>
            <a:r>
              <a:rPr lang="en-US" dirty="0"/>
              <a:t>Sumit a printed work by noon on Wednesday, 21</a:t>
            </a:r>
            <a:r>
              <a:rPr lang="en-US" baseline="30000" dirty="0"/>
              <a:t>st</a:t>
            </a:r>
            <a:r>
              <a:rPr lang="en-US" dirty="0"/>
              <a:t> August 2024.</a:t>
            </a:r>
          </a:p>
          <a:p>
            <a:pPr algn="just"/>
            <a:endParaRPr lang="en-GB" dirty="0"/>
          </a:p>
        </p:txBody>
      </p:sp>
    </p:spTree>
    <p:extLst>
      <p:ext uri="{BB962C8B-B14F-4D97-AF65-F5344CB8AC3E}">
        <p14:creationId xmlns:p14="http://schemas.microsoft.com/office/powerpoint/2010/main" val="3138150063"/>
      </p:ext>
    </p:extLst>
  </p:cSld>
  <p:clrMapOvr>
    <a:masterClrMapping/>
  </p:clrMapOvr>
</p:sld>
</file>

<file path=ppt/theme/theme1.xml><?xml version="1.0" encoding="utf-8"?>
<a:theme xmlns:a="http://schemas.openxmlformats.org/drawingml/2006/main" name="View">
  <a:themeElements>
    <a:clrScheme name="View">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7B713C7F-58B7-4AE9-B361-B13EB9EC4C0C}"/>
    </a:ext>
  </a:extLst>
</a:theme>
</file>

<file path=docProps/app.xml><?xml version="1.0" encoding="utf-8"?>
<Properties xmlns="http://schemas.openxmlformats.org/officeDocument/2006/extended-properties" xmlns:vt="http://schemas.openxmlformats.org/officeDocument/2006/docPropsVTypes">
  <Template>View</Template>
  <TotalTime>158</TotalTime>
  <Words>250</Words>
  <Application>Microsoft Office PowerPoint</Application>
  <PresentationFormat>Widescreen</PresentationFormat>
  <Paragraphs>15</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Century Schoolbook</vt:lpstr>
      <vt:lpstr>Lato</vt:lpstr>
      <vt:lpstr>Wingdings 2</vt:lpstr>
      <vt:lpstr>View</vt:lpstr>
      <vt:lpstr>Lab activity Week 3</vt:lpstr>
      <vt:lpstr>Participatory Design </vt:lpstr>
      <vt:lpstr>What is participatory design</vt:lpstr>
      <vt:lpstr>Coursework report section 5</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Week 4</dc:title>
  <dc:creator>Annemarie Zijlema</dc:creator>
  <cp:lastModifiedBy>Humphrey Jalani</cp:lastModifiedBy>
  <cp:revision>4</cp:revision>
  <dcterms:created xsi:type="dcterms:W3CDTF">2020-10-12T19:29:27Z</dcterms:created>
  <dcterms:modified xsi:type="dcterms:W3CDTF">2024-08-14T06:38:12Z</dcterms:modified>
</cp:coreProperties>
</file>